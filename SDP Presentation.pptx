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Arial Narrow"/>
      <p:regular r:id="rId23"/>
      <p:bold r:id="rId24"/>
      <p:italic r:id="rId25"/>
      <p:boldItalic r:id="rId26"/>
    </p:embeddedFont>
    <p:embeddedFont>
      <p:font typeface="Bebas Neue"/>
      <p:regular r:id="rId27"/>
    </p:embeddedFont>
    <p:embeddedFont>
      <p:font typeface="Quicksand"/>
      <p:regular r:id="rId28"/>
      <p:bold r:id="rId29"/>
    </p:embeddedFont>
    <p:embeddedFont>
      <p:font typeface="Arial Black"/>
      <p:regular r:id="rId30"/>
    </p:embeddedFont>
    <p:embeddedFont>
      <p:font typeface="Gill Sans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rialNarrow-bold.fntdata"/><Relationship Id="rId23" Type="http://schemas.openxmlformats.org/officeDocument/2006/relationships/font" Target="fonts/Arial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ialNarrow-boldItalic.fntdata"/><Relationship Id="rId25" Type="http://schemas.openxmlformats.org/officeDocument/2006/relationships/font" Target="fonts/ArialNarrow-italic.fntdata"/><Relationship Id="rId28" Type="http://schemas.openxmlformats.org/officeDocument/2006/relationships/font" Target="fonts/Quicksand-regular.fntdata"/><Relationship Id="rId27" Type="http://schemas.openxmlformats.org/officeDocument/2006/relationships/font" Target="fonts/BebasNeu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Quicksa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illSans-regular.fntdata"/><Relationship Id="rId30" Type="http://schemas.openxmlformats.org/officeDocument/2006/relationships/font" Target="fonts/ArialBlac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Gill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f132bbcc4_2_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f132bbcc4_2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f132bbcc4_2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df132bbcc4_2_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f132bbcc4_2_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132bbcc4_2_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f132bbcc4_2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f132bbcc4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f132bbcc4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f132bbcc4_2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f132bbcc4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f132bbcc4_2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f132bbcc4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f132bbcc4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f132bbcc4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f132bbcc4_2_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f132bbcc4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f132bbcc4_2_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f132bbcc4_2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f132bbcc4_2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f132bbcc4_2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f132bbcc4_2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f132bbcc4_2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f132bbcc4_2_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f132bbcc4_2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f132bbcc4_2_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df132bbcc4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f132bbcc4_2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df132bbcc4_2_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f132bbcc4_2_1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f132bbcc4_2_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df132bbcc4_2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f132bbcc4_2_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f132bbcc4_2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85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2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jpg"/><Relationship Id="rId5" Type="http://schemas.openxmlformats.org/officeDocument/2006/relationships/image" Target="../media/image2.jpg"/><Relationship Id="rId6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/>
        </p:nvSpPr>
        <p:spPr>
          <a:xfrm>
            <a:off x="155520" y="251251"/>
            <a:ext cx="8749718" cy="15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8A0000"/>
                </a:solidFill>
                <a:latin typeface="Arial Black"/>
                <a:ea typeface="Arial Black"/>
                <a:cs typeface="Arial Black"/>
                <a:sym typeface="Arial Black"/>
              </a:rPr>
              <a:t>Senior Design Project Review</a:t>
            </a:r>
            <a:br>
              <a:rPr b="0" i="0" lang="en" sz="11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b="0" i="0" lang="en" sz="11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			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572314"/>
                </a:solidFill>
                <a:latin typeface="Arial Narrow"/>
                <a:ea typeface="Arial Narrow"/>
                <a:cs typeface="Arial Narrow"/>
                <a:sym typeface="Arial Narrow"/>
              </a:rPr>
              <a:t>Hybrid Deep Learning and Quantum Machine Learning Approach for Accurate Polyp Segmentation in Colonoscopy Images </a:t>
            </a:r>
            <a:endParaRPr b="1" i="0" sz="28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3233974" y="2354423"/>
            <a:ext cx="2408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0">
            <a:normAutofit fontScale="94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SDP ID: 20251390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233444" y="3002131"/>
            <a:ext cx="36723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 of the Student(s) with Regd. No.: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VANAMA DHHANUSH - 22BCE7763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APPANA SATYA SAHIL – 22BCE7317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PALNATI VIKAS – 22BCE7817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5580113" y="4188752"/>
            <a:ext cx="3872920" cy="95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VIT-AP University,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Amravati, India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4028" y="5751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154181" y="17479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81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r>
              <a:rPr b="1" lang="en" sz="32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Outline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359968" y="603280"/>
            <a:ext cx="8504804" cy="4305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85750" lvl="0" marL="3683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Noto Sans Symbols"/>
              <a:buChar char="❑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100"/>
          </a:p>
          <a:p>
            <a:pPr indent="-285750" lvl="1" marL="8255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Overview and Problem Statement</a:t>
            </a:r>
            <a:endParaRPr sz="1100"/>
          </a:p>
          <a:p>
            <a:pPr indent="-285750" lvl="1" marL="8255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Motivations </a:t>
            </a:r>
            <a:endParaRPr sz="1100"/>
          </a:p>
          <a:p>
            <a:pPr indent="-285750" lvl="0" marL="3683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Noto Sans Symbols"/>
              <a:buChar char="❑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Background &amp; Related Work/ Literature Review</a:t>
            </a:r>
            <a:endParaRPr sz="1100"/>
          </a:p>
          <a:p>
            <a:pPr indent="-285750" lvl="1" marL="8255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Existing Solutions / Literature Survey </a:t>
            </a:r>
            <a:endParaRPr sz="1100"/>
          </a:p>
          <a:p>
            <a:pPr indent="-285750" lvl="1" marL="8255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Gaps Identified / Improvements Over Existing Solutions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683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Noto Sans Symbols"/>
              <a:buChar char="❑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sz="1100"/>
          </a:p>
          <a:p>
            <a:pPr indent="-285750" lvl="0" marL="3683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Noto Sans Symbols"/>
              <a:buChar char="❑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Proposed Solution </a:t>
            </a:r>
            <a:endParaRPr sz="1100"/>
          </a:p>
          <a:p>
            <a:pPr indent="-285750" lvl="1" marL="8255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Architecture /Workflow Diagram /Model Diagram /Block Diagram/UML diagrams</a:t>
            </a:r>
            <a:endParaRPr sz="1100"/>
          </a:p>
          <a:p>
            <a:pPr indent="-285750" lvl="1" marL="8255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Components/Features/Modules</a:t>
            </a:r>
            <a:endParaRPr sz="1100"/>
          </a:p>
          <a:p>
            <a:pPr indent="-285750" lvl="1" marL="8255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Algorithms Used/Technologies, Frameworks, and Tools Used</a:t>
            </a:r>
            <a:endParaRPr sz="1100"/>
          </a:p>
          <a:p>
            <a:pPr indent="-285750" lvl="0" marL="3683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Noto Sans Symbols"/>
              <a:buChar char="❑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Simulation and Results </a:t>
            </a:r>
            <a:endParaRPr sz="1100"/>
          </a:p>
          <a:p>
            <a:pPr indent="-285750" lvl="0" marL="3683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Noto Sans Symbols"/>
              <a:buChar char="❑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Summary ( Findings, Limitations, Future Directions )</a:t>
            </a:r>
            <a:endParaRPr sz="1100"/>
          </a:p>
          <a:p>
            <a:pPr indent="-285750" lvl="1" marL="36830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Noto Sans Symbols"/>
              <a:buChar char="❑"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107504" y="-92546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100"/>
          </a:p>
        </p:txBody>
      </p:sp>
      <p:sp>
        <p:nvSpPr>
          <p:cNvPr id="153" name="Google Shape;153;p28"/>
          <p:cNvSpPr txBox="1"/>
          <p:nvPr/>
        </p:nvSpPr>
        <p:spPr>
          <a:xfrm>
            <a:off x="179500" y="627523"/>
            <a:ext cx="8504700" cy="43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1100"/>
          </a:p>
          <a:p>
            <a:pPr indent="-165100" lvl="0" marL="292100" marR="0" rtl="0" algn="l"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None/>
            </a:pP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The project focuses on developing a hybrid Deep Learning and Quantum Machine Learning framework for automated polyp segmentation in colonoscopy images. The system combines the spatial feature extraction capability of U-Net with the enhanced feature representation capability of Quantum Machine Learning.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92100" marR="0" rtl="0" algn="l"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Manual polyp detection is time-consuming, error-prone, clinician dependent.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Colonoscopy images contain challenges such as irregular polyp shapes, low contrast, noise and illumination variations, complex textures.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/>
        </p:nvSpPr>
        <p:spPr>
          <a:xfrm>
            <a:off x="93140" y="-11460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100"/>
          </a:p>
        </p:txBody>
      </p:sp>
      <p:sp>
        <p:nvSpPr>
          <p:cNvPr id="161" name="Google Shape;161;p29"/>
          <p:cNvSpPr txBox="1"/>
          <p:nvPr/>
        </p:nvSpPr>
        <p:spPr>
          <a:xfrm>
            <a:off x="108916" y="627534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Motivations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Rising cases of colorectal cancer globally.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Need for early and accurate diagnosis.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Reduction of diagnostic errors in clinical practice.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Improvement of computer-aided diagnosis systems.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Advancement in medical image segmentation using AI.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Potential of Quantum Machine Learning in healthcare applications.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Need for robust models capable of handling complex medical imaging scenarios.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Development of next-generation intelligent healthcare systems.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20732" y="120150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1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Background &amp; Related Work / Literature Review</a:t>
            </a:r>
            <a:br>
              <a:rPr b="1" lang="en" sz="53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218670" y="766995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Existing Solutions / Literature Survey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❑"/>
            </a:pPr>
            <a:r>
              <a:rPr b="1" lang="en" sz="1800">
                <a:solidFill>
                  <a:schemeClr val="dk1"/>
                </a:solidFill>
              </a:rPr>
              <a:t>Deep Learning in Medical Imaging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</a:pPr>
            <a:r>
              <a:rPr b="1" lang="en" sz="1800">
                <a:solidFill>
                  <a:schemeClr val="dk1"/>
                </a:solidFill>
              </a:rPr>
              <a:t>U-Net Architecture </a:t>
            </a:r>
            <a:endParaRPr b="1" sz="18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❑"/>
            </a:pPr>
            <a:r>
              <a:rPr b="1" lang="en" sz="1800">
                <a:solidFill>
                  <a:schemeClr val="dk1"/>
                </a:solidFill>
              </a:rPr>
              <a:t>Quantum Machine Learning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Previous Research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U-Net for biomedical segmentation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Deep CNNs for polyp detection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Quantum-enhanced feature learning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Deep learning healthcare diagnostic systems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77145" y="51470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1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Background &amp; Related Work / Literature Review</a:t>
            </a:r>
            <a:br>
              <a:rPr b="1" lang="en" sz="53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201962" y="627534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Gaps Identified / Improvements over Existing Solutio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ns</a:t>
            </a:r>
            <a:endParaRPr b="1" sz="17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Existing models struggle with: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Complex polyp boundaries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Low contrast images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Irregular textures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Generalization across datasets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Classical deep learning methods: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Cannot fully capture complex feature relationships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Have limited robustness under varying imaging conditions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Traditional systems have: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Higher false positives and false negatives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Reduced segmentation precision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/>
        </p:nvSpPr>
        <p:spPr>
          <a:xfrm>
            <a:off x="187857" y="199044"/>
            <a:ext cx="829049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1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br>
              <a:rPr b="1" lang="en" sz="53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201962" y="627534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To develop a hybrid Deep Learning and Quantum Machine Learning framework for accurate polyp segmentation in colonoscopy images.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Preprocess colonoscopy image datasets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and to p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erform automated image segmentation using U-Net.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Integrate Quantum Machine Learning layer and improve Dice score, IoU, and pixel accuracy.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Reduce dependency on manual diagnosis.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AutoNum type="arabicPeriod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Build a scalable and intelligent healthcare diagnostic system.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/>
        </p:nvSpPr>
        <p:spPr>
          <a:xfrm>
            <a:off x="209666" y="57511"/>
            <a:ext cx="8290490" cy="734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9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br>
              <a:rPr b="1" lang="en" sz="53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209666" y="555526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Architecture / Model Diagram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/ Workflow / UML diagrams</a:t>
            </a:r>
            <a:endParaRPr sz="1100"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3" title="architecture.jpeg"/>
          <p:cNvPicPr preferRelativeResize="0"/>
          <p:nvPr/>
        </p:nvPicPr>
        <p:blipFill rotWithShape="1">
          <a:blip r:embed="rId4">
            <a:alphaModFix/>
          </a:blip>
          <a:srcRect b="10935" l="840" r="-840" t="20554"/>
          <a:stretch/>
        </p:blipFill>
        <p:spPr>
          <a:xfrm>
            <a:off x="497300" y="1015750"/>
            <a:ext cx="7715251" cy="340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/>
        </p:nvSpPr>
        <p:spPr>
          <a:xfrm>
            <a:off x="209666" y="57511"/>
            <a:ext cx="8290490" cy="734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9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br>
              <a:rPr b="1" lang="en" sz="53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218675" y="555525"/>
            <a:ext cx="8395200" cy="4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Components / Features / Modules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Dataset Module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Handles colonoscopy images and segmentation masks.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Preprocessing Module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Improves image quality and dataset diversity.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U-Net Module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Performs segmentation and feature extraction.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QML Module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Enhances feature representation using quantum circuits.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Segmentation Output Module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Generates final predicted masks.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3" name="Google Shape;203;p34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/>
        </p:nvSpPr>
        <p:spPr>
          <a:xfrm>
            <a:off x="209666" y="57511"/>
            <a:ext cx="8290490" cy="734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9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br>
              <a:rPr b="1" lang="en" sz="53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218675" y="555524"/>
            <a:ext cx="8395200" cy="4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Algorithms / Technologies, Frameworks, and Tools Used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Algorithms Used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U-Net 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Convolutional Neural Networks (CNN)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Variational Quantum Circuits (VQC)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Dice Loss Function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Adam Optimizer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Technologies and Frameworks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Python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TensorFlow / Keras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PennyLane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NumPy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OpenCV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Matplotlib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p3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" name="Google Shape;2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/>
        </p:nvSpPr>
        <p:spPr>
          <a:xfrm>
            <a:off x="209666" y="57511"/>
            <a:ext cx="8290490" cy="734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9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Simulation and Results</a:t>
            </a:r>
            <a:br>
              <a:rPr b="1" lang="en" sz="53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8A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6"/>
          <p:cNvSpPr txBox="1"/>
          <p:nvPr/>
        </p:nvSpPr>
        <p:spPr>
          <a:xfrm>
            <a:off x="229365" y="555526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 Descriptions / Input – Output Descriptions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Dice Score          0.9161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IoU Scor</a:t>
            </a:r>
            <a:r>
              <a:rPr lang="en"/>
              <a:t>e            </a:t>
            </a:r>
            <a:r>
              <a:rPr lang="en"/>
              <a:t>0.8701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Pixel Accuracy    0.9874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Result Analysis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High overlap between predicted and actual masks.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Improved segmentation precision.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Strong boundary detection capability.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Stable convergence during training.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9" name="Google Shape;219;p36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/>
        </p:nvSpPr>
        <p:spPr>
          <a:xfrm>
            <a:off x="209666" y="57511"/>
            <a:ext cx="8290490" cy="734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9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Simulation and Results </a:t>
            </a:r>
            <a:br>
              <a:rPr b="1" lang="en" sz="53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7"/>
          <p:cNvSpPr txBox="1"/>
          <p:nvPr/>
        </p:nvSpPr>
        <p:spPr>
          <a:xfrm>
            <a:off x="229365" y="555526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Parameters Descriptions (if any) / Initial Conditions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7" name="Google Shape;227;p37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7" title="Screenshot 2026-05-07 1432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875" y="1028400"/>
            <a:ext cx="8020050" cy="24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/>
        </p:nvSpPr>
        <p:spPr>
          <a:xfrm>
            <a:off x="209666" y="57511"/>
            <a:ext cx="8290490" cy="734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59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Simulation and Results </a:t>
            </a:r>
            <a:br>
              <a:rPr b="1" lang="en" sz="53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300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229365" y="555526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 Outcomes ( Tables / Figures / User Interface Snaps)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8" title="dice_per_batch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525" y="1154875"/>
            <a:ext cx="2945525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8" title="iou_per_batch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6775" y="1154875"/>
            <a:ext cx="3033675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8" title="pixel_accuracy_per_batch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8175" y="1154875"/>
            <a:ext cx="285482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/>
        </p:nvSpPr>
        <p:spPr>
          <a:xfrm>
            <a:off x="179512" y="-43209"/>
            <a:ext cx="8290490" cy="734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A0000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1" sz="5300">
              <a:solidFill>
                <a:srgbClr val="8A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9"/>
          <p:cNvSpPr txBox="1"/>
          <p:nvPr/>
        </p:nvSpPr>
        <p:spPr>
          <a:xfrm>
            <a:off x="229375" y="555525"/>
            <a:ext cx="8395200" cy="42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2100" lvl="0" marL="2921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Key Findings 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Hybrid U-Net + QML model achieved high segmentation accuracy.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Quantum feature enhancement improved precision and robustness.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Model generalized well across diverse samples.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Limitations</a:t>
            </a:r>
            <a:endParaRPr sz="1100"/>
          </a:p>
          <a:p>
            <a:pPr indent="-355600" lvl="0" marL="457200" marR="0" rtl="0" algn="l">
              <a:spcBef>
                <a:spcPts val="50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High computational complexity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Quantum simulation overhea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Hardware constraints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92100" marR="0" rtl="0" algn="l"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Future Directions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Real-time clinical deployment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Integration with advanced architectures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SzPts val="2000"/>
              <a:buFont typeface="Calibri"/>
              <a:buChar char="❑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Deployment on real quantum hardware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064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9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" name="Google Shape;24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168313" y="119045"/>
            <a:ext cx="8433366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1900"/>
              <a:buFont typeface="Calibri"/>
              <a:buNone/>
            </a:pPr>
            <a:r>
              <a:rPr b="1" lang="en" sz="2400">
                <a:solidFill>
                  <a:srgbClr val="572314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2400">
              <a:solidFill>
                <a:srgbClr val="5723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168313" y="735546"/>
            <a:ext cx="8724167" cy="3672408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latin typeface="Arial"/>
                <a:ea typeface="Arial"/>
                <a:cs typeface="Arial"/>
                <a:sym typeface="Arial"/>
              </a:rPr>
              <a:t>Slide 14 — References (APA Format)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Ronneberger, O., Fischer, P., &amp; Brox, T. (2015).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U-Net: Convolutional networks for biomedical image segmentation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In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Proceedings of the International Conference on Medical Image Computing and Computer-Assisted Intervention (MICCAI)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(pp. 234–241). Springer.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Jha, D., Smedsrud, P. H., Riegler, M. A., Halvorsen, P., de Lange, T., Johansen, D., &amp; Johansen, H. D. (2020).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Kvasir-SEG: A segmented polyp dataset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In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Proceedings of the International Conference on Multimedia Modeling (MMM)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(pp. 451–462). Springer.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Schuld, M., Sinayskiy, I., &amp; Petruccione, F. (2020).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An introduction to quantum machine learning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Nature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549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(7671), 195–202.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Esteva, A., Robicquet, A., Ramsundar, B., Kuleshov, V., DePristo, M., Chou, K., ... &amp; Dean, J. (2019).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A guide to deep learning in healthcare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Nature Medicine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25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(1), 24–29.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Long, J., Shelhamer, E., &amp; Darrell, T. (2015).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Fully convolutional networks for semantic segmentation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In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Proceedings of the IEEE Conference on Computer Vision and Pattern Recognition (CVPR)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(pp. 3431–3440).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He, K., Zhang, X., Ren, S., &amp; Sun, J. (2016).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Deep residual learning for image recognition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In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Proceedings of the IEEE Conference on Computer Vision and Pattern Recognition (CVPR)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(pp. 770–778).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Minaee, S., Boykov, Y., Porikli, F., Plaza, A., Kehtarnavaz, N., &amp; Terzopoulos, D. (2021).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Image segmentation using deep learning: A survey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IEEE Transactions on Pattern Analysis and Machine Intelligence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44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(7), 3523–3542.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Litjens, G., Kooi, T., Bejnordi, B. E., Setio, A. A. A., Ciompi, F., Ghafoorian, M., ... &amp; Sánchez, C. I. (2017).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A survey on deep learning in medical image analysis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Medical Image Analysis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42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60–88.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00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56" name="Google Shape;2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328" y="120151"/>
            <a:ext cx="1526532" cy="387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41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3" name="Google Shape;26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5756" y="1592499"/>
            <a:ext cx="4392489" cy="1958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